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achinedeeplearning\基于通用智能体的AI科研智能体应用开发\assets\ge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7527" y="475488"/>
            <a:ext cx="475488" cy="4754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1188720"/>
            <a:ext cx="91440" cy="1463040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1704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005840" y="208483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面向科研过程的 AI 智能体工作台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05840" y="2788920"/>
            <a:ext cx="5852160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94436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把检索、抽取、综合、审查、归档连成一条可追溯、可干预、可复现的流水线。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52852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科研智能体 · 研究者可控的证据流水线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56692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0.9.0 本地候选 · Apache-2.0 开源许可 · Windows 安装包已构建</a:t>
            </a:r>
            <a:endParaRPr lang="en-US" sz="1050" dirty="0"/>
          </a:p>
        </p:txBody>
      </p:sp>
      <p:pic>
        <p:nvPicPr>
          <p:cNvPr id="10" name="Image 1" descr="E:\machinedeeplearning\基于通用智能体的AI科研智能体应用开发\assets\research-study.svg">    </p:cNvPr>
          <p:cNvPicPr>
            <a:picLocks noChangeAspect="1"/>
          </p:cNvPicPr>
          <p:nvPr/>
        </p:nvPicPr>
        <p:blipFill>
          <a:blip r:embed="rId2">
            <a:alphaModFix amt="9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9775" y="1828800"/>
            <a:ext cx="2926080" cy="17190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16775" y="5394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答辩演示：终端版 npm start，全程离线可复现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壹 · 是什么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60934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6172200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格致把科研中最耗时间的几步——找资料、读证据、写综述、做复核、留档——串成一条可以暂停、可以追问、可以复跑的工作流。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655189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谁会用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947797"/>
            <a:ext cx="6172200" cy="423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研究生与课题组：把一次综述从“反复翻找”变成“按站点推进”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企业研发与情报团队：数据在本机，过程有权限，结果可交接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59079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共同底座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883406"/>
            <a:ext cx="6172200" cy="423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智能体引擎 + JSON Lines 桥协议；终端、桌面和手机远控共享同一份研究档案。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736592"/>
            <a:ext cx="1901952" cy="89611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48463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40+ 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50392" y="524865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传统综述事务性耗时（样例）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70632" y="4736592"/>
            <a:ext cx="1901952" cy="89611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35224" y="48463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65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站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935224" y="524865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从立项到归档的科研流水线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55464" y="4736592"/>
            <a:ext cx="1901952" cy="89611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48463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份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020056" y="524865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可带走的研究包与证据账本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0" y="1591056"/>
            <a:ext cx="4187952" cy="2788920"/>
          </a:xfrm>
          <a:prstGeom prst="rect">
            <a:avLst/>
          </a:prstGeom>
          <a:solidFill>
            <a:srgbClr val="151719"/>
          </a:solidFill>
          <a:ln w="10160">
            <a:solidFill>
              <a:srgbClr val="2C3138"/>
            </a:solidFill>
            <a:prstDash val="solid"/>
          </a:ln>
        </p:spPr>
      </p:sp>
      <p:pic>
        <p:nvPicPr>
          <p:cNvPr id="22" name="Image 0" descr="E:\machinedeeplearning\基于通用智能体的AI科研智能体应用开发\项目路演\真实演示截图\2026-10-13T21-51-15-b88755\1440x900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4" y="1645920"/>
            <a:ext cx="4078224" cy="267919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43216" y="17007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 · 新任务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315200" y="4453128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原生桌面端：离线模式、研究方向、最近研究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4023360"/>
          <a:ext cx="41879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143000"/>
                <a:gridCol w="18105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D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D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D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适合场景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终端工作台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npm start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快速推进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原生桌面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安装包 / 源码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长时间研究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手机远控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局域网 Web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看进度 / 审批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壹 · 为什么做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痛点：科研工作流断在四个地方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764792"/>
            <a:ext cx="82296" cy="146304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007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检索碎裂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066544"/>
            <a:ext cx="1063721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OpenAlex、CrossRef、PDF、网页分别翻找，去重与引用追踪全靠手工。一次综述平均 40+ 小时，其中约七成是事务性劳动；检索式不留档，下一次从零开始。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673223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865247"/>
            <a:ext cx="82296" cy="146304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01239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证据失锚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166999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结论散落在不同 PDF 页码与笔记里，引用与正文对不上。抽查一遍就露馅，投稿与答辩被追问「这条出自哪」时，只能回头人工核对。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587623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779647"/>
            <a:ext cx="82296" cy="146304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15639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过程不可复现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4081399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三个月后复跑同一课题：检索式没存、轮次没记、池子没有版本。答不出「上次为什么筛掉那篇」，人一毕业即断代，经验无法沉淀。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502023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694047"/>
            <a:ext cx="82296" cy="146304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630039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合规成本高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4995799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生成内容没有标识，校/企合规红线过不去；模型密钥散落在各人的配置文件里；外部工具越权写入，出事查不到责任人。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5687568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缺口：缺少一个把五步串起来、且每一步都可追溯、可干预的科研工作台。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贰 · 怎么做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产品形态与技术架构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700784"/>
            <a:ext cx="2554148" cy="1993392"/>
          </a:xfrm>
          <a:prstGeom prst="rect">
            <a:avLst/>
          </a:prstGeom>
          <a:solidFill>
            <a:srgbClr val="F7F9FC"/>
          </a:solidFill>
          <a:ln w="10160">
            <a:solidFill>
              <a:srgbClr val="CF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73152" cy="1993392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828800"/>
            <a:ext cx="2234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2130552"/>
            <a:ext cx="22341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 TUI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Flet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手机远控 Web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研究者看到的是同一套命令与状态。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7380" y="2697480"/>
            <a:ext cx="155448" cy="0"/>
          </a:xfrm>
          <a:prstGeom prst="line">
            <a:avLst/>
          </a:prstGeom>
          <a:noFill/>
          <a:ln w="15240">
            <a:solidFill>
              <a:srgbClr val="0B57D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41116" y="1700784"/>
            <a:ext cx="2554148" cy="1993392"/>
          </a:xfrm>
          <a:prstGeom prst="rect">
            <a:avLst/>
          </a:prstGeom>
          <a:solidFill>
            <a:srgbClr val="F4FAF7"/>
          </a:solidFill>
          <a:ln w="10160">
            <a:solidFill>
              <a:srgbClr val="CF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1116" y="1700784"/>
            <a:ext cx="73152" cy="1993392"/>
          </a:xfrm>
          <a:prstGeom prst="rect">
            <a:avLst/>
          </a:prstGeom>
          <a:solidFill>
            <a:srgbClr val="286557"/>
          </a:solidFill>
          <a:ln w="12700">
            <a:solidFill>
              <a:srgbClr val="2865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2284" y="1828800"/>
            <a:ext cx="2234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桥接层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42284" y="2130552"/>
            <a:ext cx="22341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src/bridge.py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Lines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命令合约 + revision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界面不直接碰业务逻辑。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8144" y="2697480"/>
            <a:ext cx="155448" cy="0"/>
          </a:xfrm>
          <a:prstGeom prst="line">
            <a:avLst/>
          </a:prstGeom>
          <a:noFill/>
          <a:ln w="15240">
            <a:solidFill>
              <a:srgbClr val="28655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6432" y="1700784"/>
            <a:ext cx="2554148" cy="1993392"/>
          </a:xfrm>
          <a:prstGeom prst="rect">
            <a:avLst/>
          </a:prstGeom>
          <a:solidFill>
            <a:srgbClr val="F7F9FC"/>
          </a:solidFill>
          <a:ln w="10160">
            <a:solidFill>
              <a:srgbClr val="CF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6432" y="1700784"/>
            <a:ext cx="73152" cy="1993392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7600" y="1828800"/>
            <a:ext cx="2234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智能体引擎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97600" y="2130552"/>
            <a:ext cx="22341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/ Agent / Review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 + HITL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检索、抽取、综述、审查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可无头运行、可单测。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33459" y="2697480"/>
            <a:ext cx="155448" cy="0"/>
          </a:xfrm>
          <a:prstGeom prst="line">
            <a:avLst/>
          </a:prstGeom>
          <a:noFill/>
          <a:ln w="15240">
            <a:solidFill>
              <a:srgbClr val="0B57D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51747" y="1700784"/>
            <a:ext cx="2554148" cy="1993392"/>
          </a:xfrm>
          <a:prstGeom prst="rect">
            <a:avLst/>
          </a:prstGeom>
          <a:solidFill>
            <a:srgbClr val="F4FAF7"/>
          </a:solidFill>
          <a:ln w="10160">
            <a:solidFill>
              <a:srgbClr val="CF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51747" y="1700784"/>
            <a:ext cx="73152" cy="1993392"/>
          </a:xfrm>
          <a:prstGeom prst="rect">
            <a:avLst/>
          </a:prstGeom>
          <a:solidFill>
            <a:srgbClr val="286557"/>
          </a:solidFill>
          <a:ln w="12700">
            <a:solidFill>
              <a:srgbClr val="2865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2915" y="1828800"/>
            <a:ext cx="2234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数据与生态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52915" y="2130552"/>
            <a:ext cx="22341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 / Skill / GEZHI.md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MCP（stdio + HTTP）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研究档案 + 用量日志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产物带 manifest 与校验和。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4096512"/>
            <a:ext cx="10820095" cy="107899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42611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一条边界原则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4261104"/>
            <a:ext cx="90095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界面只发命令，引擎只产事件；每个事件都有权限、输入、输出和 revision。这样终端、桌面、手机可以换，证据链不丢。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86968" y="4837176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隔离验证：GEZHI_DATA_DIR 指向临时目录，回归测试不触碰真实研究数据。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" y="5266944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从点击到归档：一条可观测的事件链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5522976"/>
            <a:ext cx="10820095" cy="649732"/>
          </a:xfrm>
          <a:prstGeom prst="rect">
            <a:avLst/>
          </a:prstGeom>
          <a:solidFill>
            <a:srgbClr val="F7F8FA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5632704"/>
            <a:ext cx="10527487" cy="430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→ bridge.py → agent runtime → research package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JSONL events · permission · checkpoint · manifest · sha256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贰 · 怎么做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科研流水线：七站，每一站都可回看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252728" y="1956816"/>
            <a:ext cx="4800600" cy="0"/>
          </a:xfrm>
          <a:prstGeom prst="line">
            <a:avLst/>
          </a:prstGeom>
          <a:noFill/>
          <a:ln w="15875">
            <a:solidFill>
              <a:srgbClr val="CF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2436" y="1906524"/>
            <a:ext cx="100584" cy="100584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2414016"/>
            <a:ext cx="804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研究方向与关键词，目标常驻上下文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02536" y="1906524"/>
            <a:ext cx="100584" cy="100584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5628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50492" y="2414016"/>
            <a:ext cx="804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可证伪假设进假设台，证据加权排序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02636" y="1906524"/>
            <a:ext cx="100584" cy="100584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50592" y="2414016"/>
            <a:ext cx="804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双源并发召回 + 引用滚雪球递归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02736" y="1906524"/>
            <a:ext cx="100584" cy="100584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95828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50692" y="2414016"/>
            <a:ext cx="804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结构化抽取，结论绑定文献出处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02836" y="1906524"/>
            <a:ext cx="100584" cy="100584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95928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50792" y="2414016"/>
            <a:ext cx="804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综述框架 plan→act→reflect，缺证据自动补检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02936" y="1906524"/>
            <a:ext cx="100584" cy="100584"/>
          </a:xfrm>
          <a:prstGeom prst="ellipse">
            <a:avLst/>
          </a:prstGeom>
          <a:solidFill>
            <a:srgbClr val="CFD5DB"/>
          </a:solidFill>
          <a:ln w="12700">
            <a:solidFill>
              <a:srgbClr val="CF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6028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50892" y="2414016"/>
            <a:ext cx="804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审稿人五维评分 + 后台证据复核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03036" y="1906524"/>
            <a:ext cx="100584" cy="100584"/>
          </a:xfrm>
          <a:prstGeom prst="ellipse">
            <a:avLst/>
          </a:prstGeom>
          <a:solidFill>
            <a:srgbClr val="CFD5DB"/>
          </a:solidFill>
          <a:ln w="12700">
            <a:solidFill>
              <a:srgbClr val="CF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6128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50992" y="2414016"/>
            <a:ext cx="804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研究包：manifest + 产物 + 数据 SHA256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29400" y="1664208"/>
            <a:ext cx="4873752" cy="2606040"/>
          </a:xfrm>
          <a:prstGeom prst="rect">
            <a:avLst/>
          </a:prstGeom>
          <a:solidFill>
            <a:srgbClr val="151719"/>
          </a:solidFill>
          <a:ln w="10160">
            <a:solidFill>
              <a:srgbClr val="2C3138"/>
            </a:solidFill>
            <a:prstDash val="solid"/>
          </a:ln>
        </p:spPr>
      </p:sp>
      <p:pic>
        <p:nvPicPr>
          <p:cNvPr id="29" name="Image 0" descr="E:\machinedeeplearning\基于通用智能体的AI科研智能体应用开发\项目路演\真实演示截图\2026-10-13T21-51-15-b88755\1440x900-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264" y="1719072"/>
            <a:ext cx="4764024" cy="249631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757416" y="177393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 · 研究进度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629400" y="4343400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任务完成度、五站状态和研究详情同屏可见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85800" y="384048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终端里看到的两条实时视图：阶段灯轨 + 任务监控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85800" y="4096512"/>
            <a:ext cx="5989320" cy="1004062"/>
          </a:xfrm>
          <a:prstGeom prst="rect">
            <a:avLst/>
          </a:prstGeom>
          <a:solidFill>
            <a:srgbClr val="F7F8FA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2104" y="4206240"/>
            <a:ext cx="5696712" cy="78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/timeline                         ❯ /status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● 立项目标  目标：大模型智能体综述       task=llm-agents-review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● 证据池    15 条 · 支持 7 · 背景 6        节点 4/5 · 80%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○ 世界事实  用 /fact add &lt;论断&gt; 录入       ⏸ 已挂起 · ▶ /resume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629400" y="4608576"/>
            <a:ext cx="48737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8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 不是“保存一下”：暂停、续跑、取消、重跑、删除都有明确语义；人工关口用编号菜单完成决策，并把选择写回事件流。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叁 · 核心功能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文献猎手：双源检索 + 三级漏斗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6093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召回：两个源并行，一条链递归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5669280" cy="123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OpenAlex 与 CrossRef 并发检索，DOI 去重，单源失败自动降级</a:t>
            </a:r>
            <a:endParaRPr lang="en-US" sz="112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2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引用滚雪球：正向被引 + 反向参考文献双侧扩展</a:t>
            </a:r>
            <a:endParaRPr lang="en-US" sz="112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2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收敛判断：新增低于阈值即停止加深，不做无限递归</a:t>
            </a:r>
            <a:endParaRPr lang="en-US" sz="112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2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去重键：DOI 优先，缺失时回退「标题 + 年份」模糊匹配</a:t>
            </a:r>
            <a:endParaRPr lang="en-US" sz="112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2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轮次级断点存档，中断后从 round-N 续跑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446520" y="1609344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排序：两级粗排 + LLM 终审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446520" y="1901952"/>
            <a:ext cx="5056632" cy="123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默认 0.6×TF-IDF 余弦 + 0.4×饱和 BM25（纯 Python Okapi）</a:t>
            </a:r>
            <a:endParaRPr lang="en-US" sz="112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2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配置 Embedding 端点后升级为混合评分，失败自动降级</a:t>
            </a:r>
            <a:endParaRPr lang="en-US" sz="112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2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离线行为逐比特不变，评测脚本可对照两种模式</a:t>
            </a:r>
            <a:endParaRPr lang="en-US" sz="112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2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LLM 语义终审保留否决权；否决后不足 5 篇则放弃否决，防空池</a:t>
            </a:r>
            <a:endParaRPr lang="en-US" sz="112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2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每级通过数写入产物 funnel 字段，可展示、可回放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结果视图 · 证据图谱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3758184"/>
            <a:ext cx="5715000" cy="2331720"/>
          </a:xfrm>
          <a:prstGeom prst="rect">
            <a:avLst/>
          </a:prstGeom>
          <a:solidFill>
            <a:srgbClr val="F7F8FA"/>
          </a:solidFill>
          <a:ln w="10160">
            <a:solidFill>
              <a:srgbClr val="CFD5DB"/>
            </a:solidFill>
            <a:prstDash val="solid"/>
          </a:ln>
        </p:spPr>
      </p:sp>
      <p:pic>
        <p:nvPicPr>
          <p:cNvPr id="12" name="Image 0" descr="E:\machinedeeplearning\基于通用智能体的AI科研智能体应用开发\data\artifacts\graph\evidence_c41ff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3813048"/>
            <a:ext cx="5605272" cy="22219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800" y="616305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节点大小与颜色表达相关度；右侧列表保留出处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46520" y="3758184"/>
            <a:ext cx="5056632" cy="2331720"/>
          </a:xfrm>
          <a:prstGeom prst="rect">
            <a:avLst/>
          </a:prstGeom>
          <a:solidFill>
            <a:srgbClr val="F7F8FA"/>
          </a:solidFill>
          <a:ln w="10160">
            <a:solidFill>
              <a:srgbClr val="E4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39867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一次离线样例的漏斗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93408" y="44439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42632" y="4480560"/>
            <a:ext cx="2468880" cy="146304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12680" y="44348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93408" y="47731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342632" y="4809744"/>
            <a:ext cx="1999793" cy="146304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12680" y="47640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693408" y="51023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粗排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342632" y="5138928"/>
            <a:ext cx="715975" cy="146304"/>
          </a:xfrm>
          <a:prstGeom prst="rect">
            <a:avLst/>
          </a:prstGeom>
          <a:solidFill>
            <a:srgbClr val="7CA6D8"/>
          </a:solidFill>
          <a:ln w="12700">
            <a:solidFill>
              <a:srgbClr val="7CA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12680" y="5093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93408" y="5431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精排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342632" y="5468112"/>
            <a:ext cx="469087" cy="146304"/>
          </a:xfrm>
          <a:prstGeom prst="rect">
            <a:avLst/>
          </a:prstGeom>
          <a:solidFill>
            <a:srgbClr val="7CA6D8"/>
          </a:solidFill>
          <a:ln w="12700">
            <a:solidFill>
              <a:srgbClr val="7CA6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012680" y="54223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693408" y="57607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入池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342632" y="5797296"/>
            <a:ext cx="469087" cy="146304"/>
          </a:xfrm>
          <a:prstGeom prst="rect">
            <a:avLst/>
          </a:prstGeom>
          <a:solidFill>
            <a:srgbClr val="7CA6D8"/>
          </a:solidFill>
          <a:ln w="12700">
            <a:solidFill>
              <a:srgbClr val="7CA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12680" y="57515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693408" y="5861304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每一级通过数写入 funnel 字段，检索结束后还能回放“为什么留下这 42 篇”。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叁 · 核心功能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综述搭子、数据速览、格式管家、暂停键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719072"/>
            <a:ext cx="5291176" cy="107899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19072"/>
            <a:ext cx="73152" cy="1078992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883664"/>
            <a:ext cx="497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综述搭子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2176272"/>
            <a:ext cx="492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先搭框架，再补证据；引用逐条回池核对，缺证据章节自动触发一次补检。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4720" y="1719072"/>
            <a:ext cx="5291176" cy="1078992"/>
          </a:xfrm>
          <a:prstGeom prst="rect">
            <a:avLst/>
          </a:prstGeom>
          <a:solidFill>
            <a:srgbClr val="F4FAF7"/>
          </a:solidFill>
          <a:ln w="10160">
            <a:solidFill>
              <a:srgbClr val="E4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4720" y="1719072"/>
            <a:ext cx="73152" cy="1078992"/>
          </a:xfrm>
          <a:prstGeom prst="rect">
            <a:avLst/>
          </a:prstGeom>
          <a:solidFill>
            <a:srgbClr val="286557"/>
          </a:solidFill>
          <a:ln w="12700">
            <a:solidFill>
              <a:srgbClr val="286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5888" y="1883664"/>
            <a:ext cx="497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数据速览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15888" y="2176272"/>
            <a:ext cx="492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/stats 一次给出描述统计、IQR 异常值、相关性和图表建议，结果跟着研究包走。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017520"/>
            <a:ext cx="5291176" cy="107899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017520"/>
            <a:ext cx="73152" cy="1078992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182112"/>
            <a:ext cx="497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格式管家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968" y="3474720"/>
            <a:ext cx="492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7714—2015 与 APA 7 一键切换；元数据缺失就留空，不用模型“猜”。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4720" y="3017520"/>
            <a:ext cx="5291176" cy="1078992"/>
          </a:xfrm>
          <a:prstGeom prst="rect">
            <a:avLst/>
          </a:prstGeom>
          <a:solidFill>
            <a:srgbClr val="F4FAF7"/>
          </a:solidFill>
          <a:ln w="10160">
            <a:solidFill>
              <a:srgbClr val="E4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4720" y="3017520"/>
            <a:ext cx="73152" cy="1078992"/>
          </a:xfrm>
          <a:prstGeom prst="rect">
            <a:avLst/>
          </a:prstGeom>
          <a:solidFill>
            <a:srgbClr val="286557"/>
          </a:solidFill>
          <a:ln w="12700">
            <a:solidFill>
              <a:srgbClr val="2865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5888" y="3182112"/>
            <a:ext cx="497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5888" y="3474720"/>
            <a:ext cx="492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暂停、续跑、取消、重跑、删除五种语义写进事件流，人工确认后才继续。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4215384"/>
            <a:ext cx="6473952" cy="1874520"/>
          </a:xfrm>
          <a:prstGeom prst="rect">
            <a:avLst/>
          </a:prstGeom>
          <a:solidFill>
            <a:srgbClr val="151719"/>
          </a:solidFill>
          <a:ln w="10160">
            <a:solidFill>
              <a:srgbClr val="2C3138"/>
            </a:solidFill>
            <a:prstDash val="solid"/>
          </a:ln>
        </p:spPr>
      </p:sp>
      <p:pic>
        <p:nvPicPr>
          <p:cNvPr id="23" name="Image 0" descr="E:\machinedeeplearning\基于通用智能体的AI科研智能体应用开发\项目路演\真实演示截图\2026-10-13T21-51-15-b88755\1440x900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4270248"/>
            <a:ext cx="6364224" cy="176479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13816" y="432511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 · 文献与成果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85800" y="6163056"/>
            <a:ext cx="6473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文献、摘要、综述框架、证据图谱在同一研究包里汇总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406640" y="426110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一条可见的闭环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406640" y="4553712"/>
            <a:ext cx="4096512" cy="635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先给问题和边界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再由流水线召回与抽取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最后把结论、引用和干预记录一起导出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406640" y="599846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负责加速，研究者负责决定什么能写进最终版本。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叁 · 核心功能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自研模块：观测研究过程本身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60934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不是把功能堆在一起，而是把研究对象连成一张图。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176272"/>
            <a:ext cx="3063240" cy="987552"/>
          </a:xfrm>
          <a:prstGeom prst="rect">
            <a:avLst/>
          </a:prstGeom>
          <a:solidFill>
            <a:srgbClr val="F7F9FC"/>
          </a:solidFill>
          <a:ln w="10160">
            <a:solidFill>
              <a:srgbClr val="CF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76272"/>
            <a:ext cx="73152" cy="987552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304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6968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先问：这个想法值不值得做？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42232" y="2176272"/>
            <a:ext cx="3063240" cy="987552"/>
          </a:xfrm>
          <a:prstGeom prst="rect">
            <a:avLst/>
          </a:prstGeom>
          <a:solidFill>
            <a:srgbClr val="F4FAF7"/>
          </a:solidFill>
          <a:ln w="10160">
            <a:solidFill>
              <a:srgbClr val="CF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42232" y="2176272"/>
            <a:ext cx="73152" cy="987552"/>
          </a:xfrm>
          <a:prstGeom prst="rect">
            <a:avLst/>
          </a:prstGeom>
          <a:solidFill>
            <a:srgbClr val="286557"/>
          </a:solidFill>
          <a:ln w="12700">
            <a:solidFill>
              <a:srgbClr val="2865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304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证据矩阵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4340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再看：哪些文献支持、挑战或缺失？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3602736"/>
            <a:ext cx="3063240" cy="987552"/>
          </a:xfrm>
          <a:prstGeom prst="rect">
            <a:avLst/>
          </a:prstGeom>
          <a:solidFill>
            <a:srgbClr val="F4FAF7"/>
          </a:solidFill>
          <a:ln w="10160">
            <a:solidFill>
              <a:srgbClr val="CF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602736"/>
            <a:ext cx="73152" cy="987552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730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实验树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6968" y="40325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把失败也留下，方便剪枝和复盘。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42232" y="3602736"/>
            <a:ext cx="3063240" cy="987552"/>
          </a:xfrm>
          <a:prstGeom prst="rect">
            <a:avLst/>
          </a:prstGeom>
          <a:solidFill>
            <a:srgbClr val="F7F9FC"/>
          </a:solidFill>
          <a:ln w="10160">
            <a:solidFill>
              <a:srgbClr val="CF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42232" y="3602736"/>
            <a:ext cx="73152" cy="987552"/>
          </a:xfrm>
          <a:prstGeom prst="rect">
            <a:avLst/>
          </a:prstGeom>
          <a:solidFill>
            <a:srgbClr val="286557"/>
          </a:solidFill>
          <a:ln w="12700">
            <a:solidFill>
              <a:srgbClr val="2865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3730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审稿人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43400" y="40325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投稿前按结构、证据、可检验性自审。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76472" y="2670048"/>
            <a:ext cx="310896" cy="0"/>
          </a:xfrm>
          <a:prstGeom prst="line">
            <a:avLst/>
          </a:prstGeom>
          <a:noFill/>
          <a:ln w="15240">
            <a:solidFill>
              <a:srgbClr val="CFD5D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560320" y="3236976"/>
            <a:ext cx="0" cy="0"/>
          </a:xfrm>
          <a:prstGeom prst="line">
            <a:avLst/>
          </a:prstGeom>
          <a:noFill/>
          <a:ln w="15240">
            <a:solidFill>
              <a:srgbClr val="CFD5D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41848" y="3236976"/>
            <a:ext cx="0" cy="0"/>
          </a:xfrm>
          <a:prstGeom prst="line">
            <a:avLst/>
          </a:prstGeom>
          <a:noFill/>
          <a:ln w="15240">
            <a:solidFill>
              <a:srgbClr val="CFD5D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560320" y="3163824"/>
            <a:ext cx="3090672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323697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同一份证据账本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0" y="1719072"/>
            <a:ext cx="4187952" cy="3273552"/>
          </a:xfrm>
          <a:prstGeom prst="rect">
            <a:avLst/>
          </a:prstGeom>
          <a:solidFill>
            <a:srgbClr val="F7F8FA"/>
          </a:solidFill>
          <a:ln w="10160">
            <a:solidFill>
              <a:srgbClr val="CFD5DB"/>
            </a:solidFill>
            <a:prstDash val="solid"/>
          </a:ln>
        </p:spPr>
      </p:sp>
      <p:pic>
        <p:nvPicPr>
          <p:cNvPr id="29" name="Image 0" descr="E:\machinedeeplearning\基于通用智能体的AI科研智能体应用开发\data\artifacts\graph\evidence_c41ff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4" y="1773936"/>
            <a:ext cx="4078224" cy="316382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443216" y="18288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证据图谱 · 可视化回看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315200" y="5065776"/>
            <a:ext cx="4187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每个节点都能回到文献、轮次与引用池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85800" y="5294376"/>
            <a:ext cx="6355080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2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看板：池健康度、锚定率、孤儿文献、缺证据章节</a:t>
            </a:r>
            <a:endParaRPr lang="en-US" sz="112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2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新颖性检测：选题前先查差异点与风险，避免从已有答案开始</a:t>
            </a:r>
            <a:endParaRPr lang="en-US" sz="112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2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论文复现：白名单工具 + 研究包，让复跑有边界、有记录</a:t>
            </a:r>
            <a:endParaRPr lang="en-US" sz="1120" dirty="0"/>
          </a:p>
        </p:txBody>
      </p:sp>
      <p:sp>
        <p:nvSpPr>
          <p:cNvPr id="33" name="Shape 30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肆 · 智能体内核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智能体运行时：权限、审批与韧性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73352"/>
            <a:ext cx="82296" cy="146304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93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权限三档 × 三域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1975104"/>
            <a:ext cx="52120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 / 工作区写入 / 完全访问，作用于引用 / 数据 / 代码；只读默认放行，写入与网络默认询问，策略可持久化（支持 research.* 通配符）。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673352"/>
            <a:ext cx="82296" cy="146304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60934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子智能体与扇出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75120" y="1975104"/>
            <a:ext cx="4828032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spawn 进程内派发，fanout 并行文献子任务：每路真实双源检索，子会话 JSONL 审计对父会话可见，单路失败降级。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342132"/>
            <a:ext cx="82296" cy="146304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7812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审批卡的三个问题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3643884"/>
            <a:ext cx="52120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目标是什么、影响面多大、是否可逆——审批时把三个答案摆在眼前；支持「批准并本会话记住」，重启后从事件记录恢复，已处理不可重放。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3342132"/>
            <a:ext cx="82296" cy="146304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27812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韧性四件套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75120" y="3643884"/>
            <a:ext cx="4828032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上下文压缩（软阈值先摘要折叠）· 工具失败自愈（错误回填，2 轮上限）· 单步并行只读工具（≤4 并发保序）· 中断对账恢复（崩溃后按日志续跑）。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709160"/>
            <a:ext cx="5806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一条命令看清边界：规划不写盘，执行必过审批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4965192"/>
            <a:ext cx="5806440" cy="828866"/>
          </a:xfrm>
          <a:prstGeom prst="rect">
            <a:avLst/>
          </a:prstGeom>
          <a:solidFill>
            <a:srgbClr val="F7F8FA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5074920"/>
            <a:ext cx="5513832" cy="60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7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/plan 研究智能体        → 只读规划：拆解任务，不执行副作用</a:t>
            </a:r>
            <a:endParaRPr lang="en-US" sz="97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7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/agent 研究智能体       → 执行模式：写入 / 网络工具触发审批卡</a:t>
            </a:r>
            <a:endParaRPr lang="en-US" sz="97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7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/approve                → 编号处理：1 放行 / 2 拒绝 / 3 看参数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720840" y="4965192"/>
            <a:ext cx="4782312" cy="1225296"/>
          </a:xfrm>
          <a:prstGeom prst="rect">
            <a:avLst/>
          </a:prstGeom>
          <a:solidFill>
            <a:srgbClr val="F7F8FA"/>
          </a:solidFill>
          <a:ln w="10160">
            <a:solidFill>
              <a:srgbClr val="E4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5148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一次审批的闭环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67728" y="5495544"/>
            <a:ext cx="347472" cy="347472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55686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06640" y="547725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06640" y="570585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要做什么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863840" y="5669280"/>
            <a:ext cx="402336" cy="0"/>
          </a:xfrm>
          <a:prstGeom prst="line">
            <a:avLst/>
          </a:prstGeom>
          <a:noFill/>
          <a:ln w="15240">
            <a:solidFill>
              <a:srgbClr val="CFD5D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385048" y="5495544"/>
            <a:ext cx="347472" cy="347472"/>
          </a:xfrm>
          <a:prstGeom prst="ellipse">
            <a:avLst/>
          </a:prstGeom>
          <a:solidFill>
            <a:srgbClr val="286557"/>
          </a:solidFill>
          <a:ln w="12700">
            <a:solidFill>
              <a:srgbClr val="2865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55686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823960" y="547725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823960" y="570585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会改哪里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281160" y="5669280"/>
            <a:ext cx="402336" cy="0"/>
          </a:xfrm>
          <a:prstGeom prst="line">
            <a:avLst/>
          </a:prstGeom>
          <a:noFill/>
          <a:ln w="15240">
            <a:solidFill>
              <a:srgbClr val="CFD5D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802368" y="5495544"/>
            <a:ext cx="347472" cy="347472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02368" y="55686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41280" y="547725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241280" y="570585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能否撤回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伍 · 体验与质量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双端体验与界面设计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719072"/>
            <a:ext cx="3566160" cy="2267712"/>
          </a:xfrm>
          <a:prstGeom prst="rect">
            <a:avLst/>
          </a:prstGeom>
          <a:solidFill>
            <a:srgbClr val="151719"/>
          </a:solidFill>
          <a:ln w="10160">
            <a:solidFill>
              <a:srgbClr val="2C3138"/>
            </a:solidFill>
            <a:prstDash val="solid"/>
          </a:ln>
        </p:spPr>
      </p:sp>
      <p:pic>
        <p:nvPicPr>
          <p:cNvPr id="7" name="Image 0" descr="E:\machinedeeplearning\基于通用智能体的AI科研智能体应用开发\项目路演\真实演示截图\2026-10-13T21-51-15-b88755\1440x900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73936"/>
            <a:ext cx="3456432" cy="21579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" y="182880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新任务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85800" y="40599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离线研究入口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416552" y="1719072"/>
            <a:ext cx="3566160" cy="2267712"/>
          </a:xfrm>
          <a:prstGeom prst="rect">
            <a:avLst/>
          </a:prstGeom>
          <a:solidFill>
            <a:srgbClr val="151719"/>
          </a:solidFill>
          <a:ln w="10160">
            <a:solidFill>
              <a:srgbClr val="2C3138"/>
            </a:solidFill>
            <a:prstDash val="solid"/>
          </a:ln>
        </p:spPr>
      </p:sp>
      <p:pic>
        <p:nvPicPr>
          <p:cNvPr id="11" name="Image 1" descr="E:\machinedeeplearning\基于通用智能体的AI科研智能体应用开发\项目路演\真实演示截图\2026-10-13T21-51-15-b88755\1440x900-ag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773936"/>
            <a:ext cx="3456432" cy="21579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182880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416552" y="40599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计划、工具与人工确认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8147304" y="1719072"/>
            <a:ext cx="4041648" cy="2267712"/>
          </a:xfrm>
          <a:prstGeom prst="rect">
            <a:avLst/>
          </a:prstGeom>
          <a:solidFill>
            <a:srgbClr val="151719"/>
          </a:solidFill>
          <a:ln w="10160">
            <a:solidFill>
              <a:srgbClr val="2C3138"/>
            </a:solidFill>
            <a:prstDash val="solid"/>
          </a:ln>
        </p:spPr>
      </p:sp>
      <p:pic>
        <p:nvPicPr>
          <p:cNvPr id="15" name="Image 2" descr="E:\machinedeeplearning\基于通用智能体的AI科研智能体应用开发\项目路演\真实演示截图\2026-10-13T21-51-15-b88755\1440x900-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1773936"/>
            <a:ext cx="3931920" cy="21579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1828800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研究进度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8147304" y="4059936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五站状态、详情和恢复入口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85800" y="4142232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终端：93 条命令 + 三层补全，全键盘流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85800" y="4398264"/>
            <a:ext cx="6355080" cy="1191070"/>
          </a:xfrm>
          <a:prstGeom prst="rect">
            <a:avLst/>
          </a:prstGeom>
          <a:solidFill>
            <a:srgbClr val="F7F8FA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32104" y="4507992"/>
            <a:ext cx="6062472" cy="971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/config       模型 / 主题 / 科研 / 界面（Enter 即切即存）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@src/ranking.py      文件提及补全 → 自动进入上下文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!pytest -q           shell 模式（项目根目录执行）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/timeline            七站灯轨 + 空洞提示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/read board          全屏阅读器：/ 搜索 · n 跳转 · q 返回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7452360" y="440740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为什么认真做界面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452360" y="4700016"/>
            <a:ext cx="4050792" cy="60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科研会话常常持续数小时：信息密度优先，少滚动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面板吃掉终端高度：光标可见 &gt; 上下文 &gt; 装饰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终端、桌面、手机共享同一套状态和命令，不需要重新学习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伍 · 体验与质量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安全、合规与可复现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6093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密钥与权限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5486400" cy="847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密钥仅显示「已配置」，原文不出本机；敏感命令不进输入历史、回显脱敏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工具权限三档 + 每智能体白名单；按会话文件锁，多进程审批互斥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研究数据可用 GEZHI_DATA_DIR 完全隔离；远程模式危险操作交回主机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92240" y="1609344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合规标识（依据《人工智能生成合成内容标识办法》）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1901952"/>
            <a:ext cx="5010912" cy="1058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摘要与框架正文标注：生成服务、生成方式、时间、任务标识、提示词版本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导出目录自动生成 manifest.md，逐文件标注 AI 参与度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确定性排版产物明确标注「非 AI 生成」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可复现：把「怎么做的」和「结果是什么」一起打包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4005072"/>
            <a:ext cx="6492240" cy="1043432"/>
          </a:xfrm>
          <a:prstGeom prst="rect">
            <a:avLst/>
          </a:prstGeom>
          <a:solidFill>
            <a:srgbClr val="F7F8FA"/>
          </a:solidFill>
          <a:ln w="9525">
            <a:solidFill>
              <a:srgbClr val="E4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4114800"/>
            <a:ext cx="6199632" cy="82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研究包（一次导出即可带走全部过程）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manifest.md      产物清单 + AI 参与度 + 生成参数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*.json / *.csv   断点、漏斗、文献池、事件流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data.sha256      数据与产物校验和；研究档案库 git 逐轮提交（署名），过程有 diff 可回滚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3895344"/>
            <a:ext cx="4690872" cy="2240280"/>
          </a:xfrm>
          <a:prstGeom prst="rect">
            <a:avLst/>
          </a:prstGeom>
          <a:solidFill>
            <a:srgbClr val="151719"/>
          </a:solidFill>
          <a:ln w="10160">
            <a:solidFill>
              <a:srgbClr val="2C3138"/>
            </a:solidFill>
            <a:prstDash val="solid"/>
          </a:ln>
        </p:spPr>
      </p:sp>
      <p:pic>
        <p:nvPicPr>
          <p:cNvPr id="14" name="Image 0" descr="E:\machinedeeplearning\基于通用智能体的AI科研智能体应用开发\项目路演\真实演示截图\2026-10-13T21-51-15-b88755\1440x900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7144" y="3950208"/>
            <a:ext cx="4581144" cy="213055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940296" y="400507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 · 研究包入口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85800" y="549554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安全性有证据，开源有连接。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" y="5833872"/>
            <a:ext cx="6446520" cy="329184"/>
          </a:xfrm>
          <a:prstGeom prst="rect">
            <a:avLst/>
          </a:prstGeom>
          <a:solidFill>
            <a:srgbClr val="F4FAF7"/>
          </a:solidFill>
          <a:ln w="10160">
            <a:solidFill>
              <a:srgbClr val="BFD9C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" y="5916168"/>
            <a:ext cx="6172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2865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持续更新仓库  ·  github.com/abzzyyxcpht/gezhi-scizhi  ·  Apache-2.0  ·  README / CHANGELOG / CI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伍 · 体验与质量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工程质量与验证基线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609344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1691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 Python 断言全绿（2 跳过，160 个测试文件）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2926080" y="1609344"/>
            <a:ext cx="0" cy="123444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609344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64408" y="219456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 TUI 测试文件；单链 62 项通过，含无头真帧断言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504688" y="1609344"/>
            <a:ext cx="0" cy="123444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43016" y="1609344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843016" y="219456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 REPL 命令，每条有描述与可用性合约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8732520" y="1655064"/>
            <a:ext cx="2770632" cy="1417320"/>
          </a:xfrm>
          <a:prstGeom prst="rect">
            <a:avLst/>
          </a:prstGeom>
          <a:solidFill>
            <a:srgbClr val="151719"/>
          </a:solidFill>
          <a:ln w="10160">
            <a:solidFill>
              <a:srgbClr val="2C3138"/>
            </a:solidFill>
            <a:prstDash val="solid"/>
          </a:ln>
        </p:spPr>
      </p:sp>
      <p:pic>
        <p:nvPicPr>
          <p:cNvPr id="15" name="Image 0" descr="E:\machinedeeplearning\基于通用智能体的AI科研智能体应用开发\项目路演\真实演示截图\2026-10-13T21-51-15-b88755\1440x900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7384" y="1709928"/>
            <a:ext cx="2660904" cy="130759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860536" y="17647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真机 · 工具与审批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732520" y="3145536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真帧与人工关口进入回归口径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85800" y="3502152"/>
            <a:ext cx="82296" cy="146304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343814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测试怎么写的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68680" y="3803904"/>
            <a:ext cx="10637215" cy="635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纯函数不变量优先：几何 / 预算 / 滚动 / 光标、漏斗口径、引用格式、共识计量都有单测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真帧集成：无头渲染抓帧断言（面板分页、窄屏 54×18、人工关口菜单、夹具失败清理）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隔离与并发：临时数据目录、按会话文件锁、僵尸进程清理回归；Ruff 与 UI 静态校验进 CI 口径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85800" y="4823270"/>
            <a:ext cx="82296" cy="146304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4759261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开箱可用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68680" y="5125022"/>
            <a:ext cx="6400800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/doctor 九项自检：数据目录、依赖、文献源连通、模型端点与清单、提示词、MCP、git、缓存、断点存档、向量检索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离线可完整演示（内置公开语义样例，逐比特可复现）；Windows 安装包含 SHA256 校验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伍 · 体验与质量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优势总结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9344"/>
          <a:ext cx="10820095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828800"/>
                <a:gridCol w="1828800"/>
                <a:gridCol w="2331720"/>
                <a:gridCol w="274320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1A1D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1A1D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1A1D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1A1D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OpenClaw（小龙虾）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格致 SciZhi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655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默认定位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编码交付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终端编码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多渠道通用助手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865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科研过程工作台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双源文献检索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需工作流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需工作流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可扩展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865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内置：OpenAlex + CrossRef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证据链追溯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需外接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需外接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需外接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865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内置：账本 + 图谱 + manifest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断点 / 人工关口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有审批模式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有权限控制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取决于配置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865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Checkpoint + HITL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科研模块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通用工具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通用工具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通用工具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865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假设台 / 实验树 / 审稿人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 / 远控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以代码环境为主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以终端为主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多渠道原生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865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局域网 Web 远控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本页口径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公开定位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公开定位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公开定位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30" b="1" dirty="0">
                          <a:solidFill>
                            <a:srgbClr val="28655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本项目实测流程</a:t>
                      </a:r>
                      <a:endParaRPr lang="en-US" sz="9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5230368"/>
            <a:ext cx="3496970" cy="640080"/>
          </a:xfrm>
          <a:prstGeom prst="rect">
            <a:avLst/>
          </a:prstGeom>
          <a:solidFill>
            <a:srgbClr val="F7F8FA"/>
          </a:solidFill>
          <a:ln w="10160">
            <a:solidFill>
              <a:srgbClr val="E4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" y="5340096"/>
            <a:ext cx="32775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科研专用链路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813816" y="5577840"/>
            <a:ext cx="32775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OpenAlex + CrossRef → 证据账本 / 图谱 → manifest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4347362" y="5230368"/>
            <a:ext cx="3496970" cy="640080"/>
          </a:xfrm>
          <a:prstGeom prst="rect">
            <a:avLst/>
          </a:prstGeom>
          <a:solidFill>
            <a:srgbClr val="F4FAF7"/>
          </a:solidFill>
          <a:ln w="10160">
            <a:solidFill>
              <a:srgbClr val="BFD9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75378" y="5340096"/>
            <a:ext cx="32775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865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可控可审计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4475378" y="5577840"/>
            <a:ext cx="32775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 × 三域权限 + Checkpoint / HITL + 事件流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8008925" y="5230368"/>
            <a:ext cx="3496970" cy="640080"/>
          </a:xfrm>
          <a:prstGeom prst="rect">
            <a:avLst/>
          </a:prstGeom>
          <a:solidFill>
            <a:srgbClr val="F7F8FA"/>
          </a:solidFill>
          <a:ln w="10160">
            <a:solidFill>
              <a:srgbClr val="E4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6941" y="5340096"/>
            <a:ext cx="32775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可交接可复跑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8136941" y="5577840"/>
            <a:ext cx="32775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研究包 + data.sha256 + git diff / 回滚 + 离线复现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685800" y="5980176"/>
            <a:ext cx="108200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注：比较的是产品默认定位与本项目演示口径，不构成基准性能排名。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伍 · 体验与质量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进度与下一步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65506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已完成（2026-08 → 2026-10）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2203704"/>
            <a:ext cx="9265615" cy="0"/>
          </a:xfrm>
          <a:prstGeom prst="line">
            <a:avLst/>
          </a:prstGeom>
          <a:noFill/>
          <a:ln w="15875">
            <a:solidFill>
              <a:srgbClr val="CF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2157984"/>
            <a:ext cx="91440" cy="91440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50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 检索骨架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05858" y="2157984"/>
            <a:ext cx="91440" cy="91440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4338" y="2350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 综述闭环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94397" y="2157984"/>
            <a:ext cx="91440" cy="91440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2877" y="2350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 双端体验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682935" y="2157984"/>
            <a:ext cx="91440" cy="91440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51415" y="2350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 对标收尾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706624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/ 去重 / 漏斗 / 断点 · 抽取 / 框架 / 防幻觉 / 补检 · 双端与手机远控 · 单引擎 / 权限三档 / 研究包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389534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下一步（1.0 版）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4443984"/>
            <a:ext cx="9082735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8760" y="43982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90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插件生态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86460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开放市场 + 沙箱 + 权限清单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36338" y="43982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4818" y="4590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13378" y="486460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共享证据池 + 审批流 + 角色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63917" y="43982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2397" y="4590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跨平台验收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40957" y="486460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 / Linux · IME · 辅助功能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591495" y="439826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59975" y="4590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真实评测集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68535" y="486460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跨学科对照 + 供应商盲测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" y="54864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目标：把「可追溯科研」从个人工具做成课题组基础设施——每个结论都能回到文献、命令与轮次。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0B57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陆 · 团队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13232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820095" cy="0"/>
          </a:xfrm>
          <a:prstGeom prst="line">
            <a:avLst/>
          </a:prstGeom>
          <a:noFill/>
          <a:ln w="12700">
            <a:solidFill>
              <a:srgbClr val="CF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4375" y="4937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1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9344"/>
          <a:ext cx="108200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48840"/>
                <a:gridCol w="693115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D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姓名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D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D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负责内容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（填写姓名）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组长 · 主责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系统架构与核心引擎：智能体运行时（规划 / 执行 / 审查）、编排器与断点 / 人工关口、双源检索与排序、双端联调；路演主讲与技术方案定稿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（填写姓名）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成员 · 文献与证据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文献检索与证据链：OpenAlex / CrossRef 接入、去重与漏斗指标、引用滚雪球与证据账本字段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（填写姓名）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成员 · 桌面端界面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桌面端界面与设置中心：Flet 页面、主题与字体、审批卡与任务进程面板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（填写姓名）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成员 · 文档与演示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文档与演示材料：README 与使用指南、路演 PPT、演示脚本与录屏、答辩问答准备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（填写姓名）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成员 · 测试与合规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测试与合规：pytest 用例维护、隔离验证脚本、回归清单与系统自检项核对；参考文献格式（GB/T 7714 / APA）校对、AI 内容标识文案、赛题材料整理与现场后勤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85800" y="5047488"/>
            <a:ext cx="10820095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分工按模块边界划分：核心引擎与系统集成由组长主责，并统筹进度与联调；其余成员各自独立负责一个功能模块，可并行推进、互不阻塞。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C44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协作方式：研究档案库 git 逐轮提交留痕；每周一次接口对齐（引擎 / 界面 / 文档 / 测试）；验收以测试基线与演示链路为准。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6345936"/>
            <a:ext cx="9905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1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格致 SciZhi · 科研智能体工作台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格致 SciZhi · 科研智能体工作台</dc:title>
  <dc:subject>中国国际大学生创新大赛（2026）产业赛道路演</dc:subject>
  <dc:creator>格致 SciZhi 项目组</dc:creator>
  <cp:lastModifiedBy>格致 SciZhi 项目组</cp:lastModifiedBy>
  <cp:revision>1</cp:revision>
  <dcterms:created xsi:type="dcterms:W3CDTF">2026-10-13T14:35:35Z</dcterms:created>
  <dcterms:modified xsi:type="dcterms:W3CDTF">2026-10-13T14:35:35Z</dcterms:modified>
</cp:coreProperties>
</file>